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ff230e7d8e431c" /><Relationship Type="http://schemas.openxmlformats.org/officeDocument/2006/relationships/extended-properties" Target="/docProps/app.xml" Id="R4ff6d5d297c14e42" /><Relationship Type="http://schemas.openxmlformats.org/officeDocument/2006/relationships/officeDocument" Target="/ppt/presentation.xml" Id="R60d14e2e1fce43dc" /></Relationships>
</file>

<file path=ppt/presentation.xml><?xml version="1.0" encoding="utf-8"?>
<p:presentation xmlns:p="http://schemas.openxmlformats.org/presentationml/2006/main">
  <p:sldMasterIdLst>
    <p:sldMasterId xmlns:r="http://schemas.openxmlformats.org/officeDocument/2006/relationships" id="2147483648" r:id="Rc0f8f2ea23d04192"/>
  </p:sldMasterIdLst>
  <p:notesMasterIdLst>
    <p:notesMasterId xmlns:r="http://schemas.openxmlformats.org/officeDocument/2006/relationships" r:id="Ra5bf83e6764e452b"/>
  </p:notesMasterIdLst>
  <p:sldIdLst>
    <p:sldId xmlns:r="http://schemas.openxmlformats.org/officeDocument/2006/relationships" id="256" r:id="R29cadf7f40e14216"/>
    <p:sldId xmlns:r="http://schemas.openxmlformats.org/officeDocument/2006/relationships" id="257" r:id="R81f66bc966d74d61"/>
    <p:sldId xmlns:r="http://schemas.openxmlformats.org/officeDocument/2006/relationships" id="258" r:id="R295cf1fccaa64a49"/>
    <p:sldId xmlns:r="http://schemas.openxmlformats.org/officeDocument/2006/relationships" id="259" r:id="Rf7e4b531eacd4ab3"/>
    <p:sldId xmlns:r="http://schemas.openxmlformats.org/officeDocument/2006/relationships" id="260" r:id="R57e274700a784b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b04fcac1954e84" /><Relationship Type="http://schemas.openxmlformats.org/officeDocument/2006/relationships/slideMaster" Target="/ppt/slideMasters/slideMaster1.xml" Id="Rc0f8f2ea23d04192" /><Relationship Type="http://schemas.openxmlformats.org/officeDocument/2006/relationships/notesMaster" Target="/ppt/notesMasters/notesMaster1.xml" Id="Ra5bf83e6764e452b" /><Relationship Type="http://schemas.openxmlformats.org/officeDocument/2006/relationships/presProps" Target="/ppt/presProps.xml" Id="Rcc1e7da3f26c4354" /><Relationship Type="http://schemas.openxmlformats.org/officeDocument/2006/relationships/tableStyles" Target="/ppt/tableStyles.xml" Id="R0199a5d8278b4dd1" /><Relationship Type="http://schemas.openxmlformats.org/officeDocument/2006/relationships/slide" Target="/ppt/slides/slide1.xml" Id="R29cadf7f40e14216" /><Relationship Type="http://schemas.openxmlformats.org/officeDocument/2006/relationships/slide" Target="/ppt/slides/slide2.xml" Id="R81f66bc966d74d61" /><Relationship Type="http://schemas.openxmlformats.org/officeDocument/2006/relationships/slide" Target="/ppt/slides/slide3.xml" Id="R295cf1fccaa64a49" /><Relationship Type="http://schemas.openxmlformats.org/officeDocument/2006/relationships/slide" Target="/ppt/slides/slide4.xml" Id="Rf7e4b531eacd4ab3" /><Relationship Type="http://schemas.openxmlformats.org/officeDocument/2006/relationships/slide" Target="/ppt/slides/slide5.xml" Id="R57e274700a784b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b118f28efe49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fc74b0803e4f29" /><Relationship Type="http://schemas.openxmlformats.org/officeDocument/2006/relationships/notesMaster" Target="/ppt/notesMasters/notesMaster1.xml" Id="Rb1b14757cb0b4d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2d0a3b5fe446e8" /><Relationship Type="http://schemas.openxmlformats.org/officeDocument/2006/relationships/notesMaster" Target="/ppt/notesMasters/notesMaster1.xml" Id="R5c9c288842c54f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0cf8f57f3c4de6" /><Relationship Type="http://schemas.openxmlformats.org/officeDocument/2006/relationships/notesMaster" Target="/ppt/notesMasters/notesMaster1.xml" Id="Raeb9182f25c84b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511cfc93f4a12" /><Relationship Type="http://schemas.openxmlformats.org/officeDocument/2006/relationships/notesMaster" Target="/ppt/notesMasters/notesMaster1.xml" Id="R16b0cb7fa54b4a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8ce4d789cc4f32" /><Relationship Type="http://schemas.openxmlformats.org/officeDocument/2006/relationships/notesMaster" Target="/ppt/notesMasters/notesMaster1.xml" Id="R22fd6f864ff348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evidence/customer-chat.txt (Lena discovery conversation, turns 15–26), README.md, and the local Juniper Salon prototype. All clients and bookings in screenshots are fictional. Screenshots show actual prototype runs, not production outcomes.</a:t>
            </a:r>
          </a:p>
          <a:p xmlns:a="http://schemas.openxmlformats.org/drawingml/2006/main">
            <a:r>
              <a:t>Suggested narration (90 seconds): Lena wants reliable movement to the next eligible person without double-booking. The counts are discovery estimates, not measured performance. The dashboard is a local prototype using a proposed green and ivory visual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evidence/customer-chat.txt (Lena discovery conversation, turns 15–26), README.md, and the local Juniper Salon prototype. All clients and bookings in screenshots are fictional. Screenshots show actual prototype runs, not production outcomes.</a:t>
            </a:r>
          </a:p>
          <a:p xmlns:a="http://schemas.openxmlformats.org/drawingml/2006/main">
            <a:r>
              <a:t>Suggested narration (2 minutes): Walk through the eligibility rules, oldest-first queue and timed handoff. This screenshot shows the successful scenario Lena requested. The normal response window is 15 minutes, bounded by staff’s cutoff. A repeated yes does not create another booking. Only overlapping offers for the confirmed client are withdrawn.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evidence/customer-chat.txt (Lena discovery conversation, turns 15–26), README.md, and the local Juniper Salon prototype. All clients and bookings in screenshots are fictional. Screenshots show actual prototype runs, not production outcomes.</a:t>
            </a:r>
          </a:p>
          <a:p xmlns:a="http://schemas.openxmlformats.org/drawingml/2006/main">
            <a:r>
              <a:t>Suggested narration (2 minutes): Explain that failure is visible and intentionally hands control to staff. Staff chooses the phone outcome. Reopening preserves the original queue and skips previously contacted clients. Staff’s cutoff also closes paused openings. Filled by staff, canceled and unfilled remain distinct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evidence/customer-chat.txt (Lena discovery conversation, turns 15–26), README.md, and the local Juniper Salon prototype. All clients and bookings in screenshots are fictional. Screenshots show actual prototype runs, not production outcomes.</a:t>
            </a:r>
          </a:p>
          <a:p xmlns:a="http://schemas.openxmlformats.org/drawingml/2006/main">
            <a:r>
              <a:t>Suggested narration (2 minutes): Distinguish the real durable workflow from external integrations. Temporal timers and recovery are real. No texts are sent, and the Lena/Carla selector is attribution only, not authentication. Real SMS, secure access and operational checks belong to a later pilot. Square integration was not a discovery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evidence/customer-chat.txt (Lena discovery conversation, turns 15–26), README.md, and the local Juniper Salon prototype. All clients and bookings in screenshots are fictional. Screenshots show actual prototype runs, not production outcomes.</a:t>
            </a:r>
          </a:p>
          <a:p xmlns:a="http://schemas.openxmlformats.org/drawingml/2006/main">
            <a:r>
              <a:t>Suggested narration (90 seconds): This is a proposed next step, not a customer commitment. Ask Lena and Carla whether these cases represent their day. Record staff effort and filled/unfilled outcomes to establish a baseline. Before any real-client pilot, add SMS integration and authenticated access and agree on operating procedures. No production benefit has been measured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d3124354a441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a7de2123184e32" /><Relationship Type="http://schemas.openxmlformats.org/officeDocument/2006/relationships/slideLayout" Target="/ppt/slideLayouts/slideLayout1.xml" Id="Rb5b99ab2fb4040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b99ab2fb4040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3ee982d2b5475b" /><Relationship Type="http://schemas.openxmlformats.org/officeDocument/2006/relationships/image" Target="/ppt/media/image.jpeg" Id="Rde864013749d4a55" /><Relationship Type="http://schemas.openxmlformats.org/officeDocument/2006/relationships/notesSlide" Target="/ppt/notesSlides/notesSlide1.xml" Id="Rd341f85c7521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448bfabb644c21" /><Relationship Type="http://schemas.openxmlformats.org/officeDocument/2006/relationships/image" Target="/ppt/media/image2.jpeg" Id="Ree3d9f35524e4f74" /><Relationship Type="http://schemas.openxmlformats.org/officeDocument/2006/relationships/notesSlide" Target="/ppt/notesSlides/notesSlide2.xml" Id="R5c40180a4e4843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cf33f07bc147b8" /><Relationship Type="http://schemas.openxmlformats.org/officeDocument/2006/relationships/image" Target="/ppt/media/image3.jpeg" Id="Rcd6d4399d56a46fd" /><Relationship Type="http://schemas.openxmlformats.org/officeDocument/2006/relationships/notesSlide" Target="/ppt/notesSlides/notesSlide3.xml" Id="Rca46525092c743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a5d19113b54aeb" /><Relationship Type="http://schemas.openxmlformats.org/officeDocument/2006/relationships/notesSlide" Target="/ppt/notesSlides/notesSlide4.xml" Id="R16f5b91ead274b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cff0e6f4224289" /><Relationship Type="http://schemas.openxmlformats.org/officeDocument/2006/relationships/notesSlide" Target="/ppt/notesSlides/notesSlide5.xml" Id="Rbbe30045b78f41fb" /></Relationships>
</file>

<file path=ppt/slides/slide1.xml><?xml version="1.0" encoding="utf-8"?>
<p:sld xmlns:p="http://schemas.openxmlformats.org/presentationml/2006/main">
  <p:cSld>
    <p:bg>
      <p:bgPr>
        <a:solidFill xmlns:a="http://schemas.openxmlformats.org/drawingml/2006/main">
          <a:srgbClr val="243F3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A72F94-F63B-43D5-8D50-7B85E53C7CFA}"/>
              </a:ext>
            </a:extLst>
          </p:cNvPr>
          <p:cNvSpPr>
            <a:spLocks xmlns:a="http://schemas.openxmlformats.org/drawingml/2006/main" noGrp="1"/>
          </p:cNvSpPr>
          <p:nvPr/>
        </p:nvSpPr>
        <p:spPr>
          <a:xfrm xmlns:a="http://schemas.openxmlformats.org/drawingml/2006/main">
            <a:off x="571500" y="2857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5DCC2"/>
                </a:solidFill>
                <a:latin typeface="Liberation Sans"/>
                <a:ea typeface="Liberation Sans"/>
                <a:cs typeface="Liberation Sans"/>
              </a:defRPr>
            </a:pPr>
            <a:r>
              <a:rPr sz="1200" b="1">
                <a:solidFill>
                  <a:srgbClr val="D5DCC2"/>
                </a:solidFill>
                <a:latin typeface="Liberation Sans"/>
                <a:ea typeface="Liberation Sans"/>
                <a:cs typeface="Liberation Sans"/>
              </a:rPr>
              <a:t>JUNIPER SALON</a:t>
            </a:r>
          </a:p>
        </p:txBody>
      </p:sp>
      <p:sp>
        <p:nvSpPr>
          <p:cNvPr id="2" name="">
            <a:extLst xmlns:a="http://schemas.openxmlformats.org/drawingml/2006/main">
              <a:ext uri="{FF2B5EF4-FFF2-40B4-BE49-F238E27FC236}">
                <a16:creationId xmlns:a16="http://schemas.microsoft.com/office/drawing/2014/main" id="{9B038AEC-5D90-47DB-A5BA-14EA0E605E69}"/>
              </a:ext>
            </a:extLst>
          </p:cNvPr>
          <p:cNvSpPr>
            <a:spLocks xmlns:a="http://schemas.openxmlformats.org/drawingml/2006/main" noGrp="1"/>
          </p:cNvSpPr>
          <p:nvPr/>
        </p:nvSpPr>
        <p:spPr>
          <a:xfrm xmlns:a="http://schemas.openxmlformats.org/drawingml/2006/main">
            <a:off x="571500" y="7620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F5F3EB"/>
                </a:solidFill>
                <a:latin typeface="Liberation Serif"/>
                <a:ea typeface="Liberation Serif"/>
                <a:cs typeface="Liberation Serif"/>
              </a:defRPr>
            </a:pPr>
            <a:r>
              <a:rPr sz="3750" b="0">
                <a:solidFill>
                  <a:srgbClr val="F5F3EB"/>
                </a:solidFill>
                <a:latin typeface="Liberation Serif"/>
                <a:ea typeface="Liberation Serif"/>
                <a:cs typeface="Liberation Serif"/>
              </a:rPr>
              <a:t>Filling last-minute openings</a:t>
            </a:r>
          </a:p>
        </p:txBody>
      </p:sp>
      <p:sp>
        <p:nvSpPr>
          <p:cNvPr id="3" name="">
            <a:extLst xmlns:a="http://schemas.openxmlformats.org/drawingml/2006/main">
              <a:ext uri="{FF2B5EF4-FFF2-40B4-BE49-F238E27FC236}">
                <a16:creationId xmlns:a16="http://schemas.microsoft.com/office/drawing/2014/main" id="{41859D36-996C-407A-A41D-D7B342244238}"/>
              </a:ext>
            </a:extLst>
          </p:cNvPr>
          <p:cNvSpPr>
            <a:spLocks xmlns:a="http://schemas.openxmlformats.org/drawingml/2006/main" noGrp="1"/>
          </p:cNvSpPr>
          <p:nvPr/>
        </p:nvSpPr>
        <p:spPr>
          <a:xfrm xmlns:a="http://schemas.openxmlformats.org/drawingml/2006/main">
            <a:off x="5715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5DCC2"/>
                </a:solidFill>
                <a:latin typeface="Liberation Sans"/>
                <a:ea typeface="Liberation Sans"/>
                <a:cs typeface="Liberation Sans"/>
              </a:defRPr>
            </a:pPr>
            <a:r>
              <a:rPr sz="1050" b="0">
                <a:solidFill>
                  <a:srgbClr val="D5DCC2"/>
                </a:solidFill>
                <a:latin typeface="Liberation Sans"/>
                <a:ea typeface="Liberation Sans"/>
                <a:cs typeface="Liberation Sans"/>
              </a:rPr>
              <a:t>For Lena and Carla  •  Local prototype</a:t>
            </a:r>
          </a:p>
        </p:txBody>
      </p:sp>
      <p:sp>
        <p:nvSpPr>
          <p:cNvPr id="4" name="">
            <a:extLst xmlns:a="http://schemas.openxmlformats.org/drawingml/2006/main">
              <a:ext uri="{FF2B5EF4-FFF2-40B4-BE49-F238E27FC236}">
                <a16:creationId xmlns:a16="http://schemas.microsoft.com/office/drawing/2014/main" id="{087CC8DD-CEA7-429E-B51D-0AEE56C7374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5DCC2"/>
                </a:solidFill>
                <a:latin typeface="Liberation Sans"/>
                <a:ea typeface="Liberation Sans"/>
                <a:cs typeface="Liberation Sans"/>
              </a:defRPr>
            </a:pPr>
            <a:r>
              <a:rPr sz="1050" b="0">
                <a:solidFill>
                  <a:srgbClr val="D5DCC2"/>
                </a:solidFill>
                <a:latin typeface="Liberation Sans"/>
                <a:ea typeface="Liberation Sans"/>
                <a:cs typeface="Liberation Sans"/>
              </a:rPr>
              <a:t>1 / 5</a:t>
            </a:r>
          </a:p>
        </p:txBody>
      </p:sp>
      <p:sp>
        <p:nvSpPr>
          <p:cNvPr id="5" name="">
            <a:extLst xmlns:a="http://schemas.openxmlformats.org/drawingml/2006/main">
              <a:ext uri="{FF2B5EF4-FFF2-40B4-BE49-F238E27FC236}">
                <a16:creationId xmlns:a16="http://schemas.microsoft.com/office/drawing/2014/main" id="{C1A89BAF-D9F0-476D-B954-14E83F30E7FF}"/>
              </a:ext>
            </a:extLst>
          </p:cNvPr>
          <p:cNvSpPr>
            <a:spLocks xmlns:a="http://schemas.openxmlformats.org/drawingml/2006/main" noGrp="1"/>
          </p:cNvSpPr>
          <p:nvPr/>
        </p:nvSpPr>
        <p:spPr>
          <a:xfrm xmlns:a="http://schemas.openxmlformats.org/drawingml/2006/main">
            <a:off x="571500" y="17430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5DCC2"/>
                </a:solidFill>
                <a:latin typeface="Liberation Sans"/>
                <a:ea typeface="Liberation Sans"/>
                <a:cs typeface="Liberation Sans"/>
              </a:defRPr>
            </a:pPr>
            <a:r>
              <a:rPr sz="2175" b="0">
                <a:solidFill>
                  <a:srgbClr val="D5DCC2"/>
                </a:solidFill>
                <a:latin typeface="Liberation Sans"/>
                <a:ea typeface="Liberation Sans"/>
                <a:cs typeface="Liberation Sans"/>
              </a:rPr>
              <a:t>Less chasing. Clearer turns.</a:t>
            </a:r>
          </a:p>
        </p:txBody>
      </p:sp>
      <p:sp>
        <p:nvSpPr>
          <p:cNvPr id="6" name="">
            <a:extLst xmlns:a="http://schemas.openxmlformats.org/drawingml/2006/main">
              <a:ext uri="{FF2B5EF4-FFF2-40B4-BE49-F238E27FC236}">
                <a16:creationId xmlns:a16="http://schemas.microsoft.com/office/drawing/2014/main" id="{6807D62F-2051-478C-B55E-66475A2C70FF}"/>
              </a:ext>
            </a:extLst>
          </p:cNvPr>
          <p:cNvSpPr>
            <a:spLocks xmlns:a="http://schemas.openxmlformats.org/drawingml/2006/main" noGrp="1"/>
          </p:cNvSpPr>
          <p:nvPr/>
        </p:nvSpPr>
        <p:spPr>
          <a:xfrm xmlns:a="http://schemas.openxmlformats.org/drawingml/2006/main">
            <a:off x="571500" y="24003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0">
                <a:solidFill>
                  <a:srgbClr val="F5F3EB"/>
                </a:solidFill>
                <a:latin typeface="Liberation Serif"/>
                <a:ea typeface="Liberation Serif"/>
                <a:cs typeface="Liberation Serif"/>
              </a:defRPr>
            </a:pPr>
            <a:r>
              <a:rPr sz="4950" b="0">
                <a:solidFill>
                  <a:srgbClr val="F5F3EB"/>
                </a:solidFill>
                <a:latin typeface="Liberation Serif"/>
                <a:ea typeface="Liberation Serif"/>
                <a:cs typeface="Liberation Serif"/>
              </a:rPr>
              <a:t>8–12</a:t>
            </a:r>
          </a:p>
        </p:txBody>
      </p:sp>
      <p:sp>
        <p:nvSpPr>
          <p:cNvPr id="7" name="">
            <a:extLst xmlns:a="http://schemas.openxmlformats.org/drawingml/2006/main">
              <a:ext uri="{FF2B5EF4-FFF2-40B4-BE49-F238E27FC236}">
                <a16:creationId xmlns:a16="http://schemas.microsoft.com/office/drawing/2014/main" id="{7A0D259B-724C-403F-BC3E-D7B18EC96744}"/>
              </a:ext>
            </a:extLst>
          </p:cNvPr>
          <p:cNvSpPr>
            <a:spLocks xmlns:a="http://schemas.openxmlformats.org/drawingml/2006/main" noGrp="1"/>
          </p:cNvSpPr>
          <p:nvPr/>
        </p:nvSpPr>
        <p:spPr>
          <a:xfrm xmlns:a="http://schemas.openxmlformats.org/drawingml/2006/main">
            <a:off x="571500" y="3105150"/>
            <a:ext cx="3762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5F3EB"/>
                </a:solidFill>
                <a:latin typeface="Liberation Sans"/>
                <a:ea typeface="Liberation Sans"/>
                <a:cs typeface="Liberation Sans"/>
              </a:defRPr>
            </a:pPr>
            <a:r>
              <a:rPr sz="1800" b="0">
                <a:solidFill>
                  <a:srgbClr val="F5F3EB"/>
                </a:solidFill>
                <a:latin typeface="Liberation Sans"/>
                <a:ea typeface="Liberation Sans"/>
                <a:cs typeface="Liberation Sans"/>
              </a:rPr>
              <a:t>last-minute cancellations each week</a:t>
            </a:r>
          </a:p>
        </p:txBody>
      </p:sp>
      <p:sp>
        <p:nvSpPr>
          <p:cNvPr id="8" name="">
            <a:extLst xmlns:a="http://schemas.openxmlformats.org/drawingml/2006/main">
              <a:ext uri="{FF2B5EF4-FFF2-40B4-BE49-F238E27FC236}">
                <a16:creationId xmlns:a16="http://schemas.microsoft.com/office/drawing/2014/main" id="{BBD7EA54-FBD7-4B28-B3BE-39F7C4983CB1}"/>
              </a:ext>
            </a:extLst>
          </p:cNvPr>
          <p:cNvSpPr>
            <a:spLocks xmlns:a="http://schemas.openxmlformats.org/drawingml/2006/main" noGrp="1"/>
          </p:cNvSpPr>
          <p:nvPr/>
        </p:nvSpPr>
        <p:spPr>
          <a:xfrm xmlns:a="http://schemas.openxmlformats.org/drawingml/2006/main">
            <a:off x="571500" y="3838575"/>
            <a:ext cx="371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0">
                <a:solidFill>
                  <a:srgbClr val="F5F3EB"/>
                </a:solidFill>
                <a:latin typeface="Liberation Serif"/>
                <a:ea typeface="Liberation Serif"/>
                <a:cs typeface="Liberation Serif"/>
              </a:defRPr>
            </a:pPr>
            <a:r>
              <a:rPr sz="4950" b="0">
                <a:solidFill>
                  <a:srgbClr val="F5F3EB"/>
                </a:solidFill>
                <a:latin typeface="Liberation Serif"/>
                <a:ea typeface="Liberation Serif"/>
                <a:cs typeface="Liberation Serif"/>
              </a:rPr>
              <a:t>20–30</a:t>
            </a:r>
          </a:p>
        </p:txBody>
      </p:sp>
      <p:sp>
        <p:nvSpPr>
          <p:cNvPr id="9" name="">
            <a:extLst xmlns:a="http://schemas.openxmlformats.org/drawingml/2006/main">
              <a:ext uri="{FF2B5EF4-FFF2-40B4-BE49-F238E27FC236}">
                <a16:creationId xmlns:a16="http://schemas.microsoft.com/office/drawing/2014/main" id="{2572E56B-FCA6-487F-A2F9-7A7F964DB724}"/>
              </a:ext>
            </a:extLst>
          </p:cNvPr>
          <p:cNvSpPr>
            <a:spLocks xmlns:a="http://schemas.openxmlformats.org/drawingml/2006/main" noGrp="1"/>
          </p:cNvSpPr>
          <p:nvPr/>
        </p:nvSpPr>
        <p:spPr>
          <a:xfrm xmlns:a="http://schemas.openxmlformats.org/drawingml/2006/main">
            <a:off x="571500" y="4552950"/>
            <a:ext cx="376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5F3EB"/>
                </a:solidFill>
                <a:latin typeface="Liberation Sans"/>
                <a:ea typeface="Liberation Sans"/>
                <a:cs typeface="Liberation Sans"/>
              </a:defRPr>
            </a:pPr>
            <a:r>
              <a:rPr sz="1800" b="0">
                <a:solidFill>
                  <a:srgbClr val="F5F3EB"/>
                </a:solidFill>
                <a:latin typeface="Liberation Sans"/>
                <a:ea typeface="Liberation Sans"/>
                <a:cs typeface="Liberation Sans"/>
              </a:rPr>
              <a:t>clients on the waitlist</a:t>
            </a:r>
          </a:p>
        </p:txBody>
      </p:sp>
      <p:sp>
        <p:nvSpPr>
          <p:cNvPr id="10" name="">
            <a:extLst xmlns:a="http://schemas.openxmlformats.org/drawingml/2006/main">
              <a:ext uri="{FF2B5EF4-FFF2-40B4-BE49-F238E27FC236}">
                <a16:creationId xmlns:a16="http://schemas.microsoft.com/office/drawing/2014/main" id="{A5E94A74-C06B-48D8-A012-61320680A097}"/>
              </a:ext>
            </a:extLst>
          </p:cNvPr>
          <p:cNvSpPr>
            <a:spLocks xmlns:a="http://schemas.openxmlformats.org/drawingml/2006/main" noGrp="1"/>
          </p:cNvSpPr>
          <p:nvPr/>
        </p:nvSpPr>
        <p:spPr>
          <a:xfrm xmlns:a="http://schemas.openxmlformats.org/drawingml/2006/main">
            <a:off x="571500" y="5219700"/>
            <a:ext cx="4000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F3EB"/>
                </a:solidFill>
                <a:latin typeface="Liberation Sans"/>
                <a:ea typeface="Liberation Sans"/>
                <a:cs typeface="Liberation Sans"/>
              </a:defRPr>
            </a:pPr>
            <a:r>
              <a:rPr sz="1875" b="0">
                <a:solidFill>
                  <a:srgbClr val="F5F3EB"/>
                </a:solidFill>
                <a:latin typeface="Liberation Sans"/>
                <a:ea typeface="Liberation Sans"/>
                <a:cs typeface="Liberation Sans"/>
              </a:rPr>
              <a:t>Today, spreadsheets and texts make it hard to know who has the next turn.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864013749d4a55"/>
          <a:stretch xmlns:a="http://schemas.openxmlformats.org/drawingml/2006/main"/>
        </p:blipFill>
        <p:spPr>
          <a:xfrm xmlns:a="http://schemas.openxmlformats.org/drawingml/2006/main">
            <a:off x="5005388" y="1743075"/>
            <a:ext cx="6486525" cy="4324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B3DBCF6-48A2-411C-8DF0-8C332C38700A}"/>
              </a:ext>
            </a:extLst>
          </p:cNvPr>
          <p:cNvSpPr>
            <a:spLocks xmlns:a="http://schemas.openxmlformats.org/drawingml/2006/main" noGrp="1"/>
          </p:cNvSpPr>
          <p:nvPr/>
        </p:nvSpPr>
        <p:spPr>
          <a:xfrm xmlns:a="http://schemas.openxmlformats.org/drawingml/2006/main">
            <a:off x="571500" y="61436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5DCC2"/>
                </a:solidFill>
                <a:latin typeface="Liberation Sans"/>
                <a:ea typeface="Liberation Sans"/>
                <a:cs typeface="Liberation Sans"/>
              </a:defRPr>
            </a:pPr>
            <a:r>
              <a:rPr sz="1050" b="0">
                <a:solidFill>
                  <a:srgbClr val="D5DCC2"/>
                </a:solidFill>
                <a:latin typeface="Liberation Sans"/>
                <a:ea typeface="Liberation Sans"/>
                <a:cs typeface="Liberation Sans"/>
              </a:rPr>
              <a:t>Lena’s estimates. Website shown with sample clients and simulated messages.</a:t>
            </a:r>
          </a:p>
        </p:txBody>
      </p:sp>
    </p:spTree>
    <p:extLst>
      <p:ext uri="{BB962C8B-B14F-4D97-AF65-F5344CB8AC3E}">
        <p14:creationId xmlns:p14="http://schemas.microsoft.com/office/powerpoint/2010/main" val="988699148"/>
      </p:ext>
    </p:extLst>
  </p:cSld>
</p:sld>
</file>

<file path=ppt/slides/slide2.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00361E-A857-42D7-8B57-36B059A5C094}"/>
              </a:ext>
            </a:extLst>
          </p:cNvPr>
          <p:cNvSpPr>
            <a:spLocks xmlns:a="http://schemas.openxmlformats.org/drawingml/2006/main" noGrp="1"/>
          </p:cNvSpPr>
          <p:nvPr/>
        </p:nvSpPr>
        <p:spPr>
          <a:xfrm xmlns:a="http://schemas.openxmlformats.org/drawingml/2006/main">
            <a:off x="571500" y="2857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B665B"/>
                </a:solidFill>
                <a:latin typeface="Liberation Sans"/>
                <a:ea typeface="Liberation Sans"/>
                <a:cs typeface="Liberation Sans"/>
              </a:defRPr>
            </a:pPr>
            <a:r>
              <a:rPr sz="1200" b="1">
                <a:solidFill>
                  <a:srgbClr val="5B665B"/>
                </a:solidFill>
                <a:latin typeface="Liberation Sans"/>
                <a:ea typeface="Liberation Sans"/>
                <a:cs typeface="Liberation Sans"/>
              </a:rPr>
              <a:t>JUNIPER SALON</a:t>
            </a:r>
          </a:p>
        </p:txBody>
      </p:sp>
      <p:sp>
        <p:nvSpPr>
          <p:cNvPr id="2" name="">
            <a:extLst xmlns:a="http://schemas.openxmlformats.org/drawingml/2006/main">
              <a:ext uri="{FF2B5EF4-FFF2-40B4-BE49-F238E27FC236}">
                <a16:creationId xmlns:a16="http://schemas.microsoft.com/office/drawing/2014/main" id="{6E4FD95E-212A-4BF4-A5C1-9ADB13FAA1A0}"/>
              </a:ext>
            </a:extLst>
          </p:cNvPr>
          <p:cNvSpPr>
            <a:spLocks xmlns:a="http://schemas.openxmlformats.org/drawingml/2006/main" noGrp="1"/>
          </p:cNvSpPr>
          <p:nvPr/>
        </p:nvSpPr>
        <p:spPr>
          <a:xfrm xmlns:a="http://schemas.openxmlformats.org/drawingml/2006/main">
            <a:off x="571500" y="7620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243F34"/>
                </a:solidFill>
                <a:latin typeface="Liberation Serif"/>
                <a:ea typeface="Liberation Serif"/>
                <a:cs typeface="Liberation Serif"/>
              </a:defRPr>
            </a:pPr>
            <a:r>
              <a:rPr sz="3750" b="0">
                <a:solidFill>
                  <a:srgbClr val="243F34"/>
                </a:solidFill>
                <a:latin typeface="Liberation Serif"/>
                <a:ea typeface="Liberation Serif"/>
                <a:cs typeface="Liberation Serif"/>
              </a:rPr>
              <a:t>One client gets a clear turn</a:t>
            </a:r>
          </a:p>
        </p:txBody>
      </p:sp>
      <p:sp>
        <p:nvSpPr>
          <p:cNvPr id="3" name="">
            <a:extLst xmlns:a="http://schemas.openxmlformats.org/drawingml/2006/main">
              <a:ext uri="{FF2B5EF4-FFF2-40B4-BE49-F238E27FC236}">
                <a16:creationId xmlns:a16="http://schemas.microsoft.com/office/drawing/2014/main" id="{68BAEF5E-EA12-43DE-A97C-E40ED55F00F9}"/>
              </a:ext>
            </a:extLst>
          </p:cNvPr>
          <p:cNvSpPr>
            <a:spLocks xmlns:a="http://schemas.openxmlformats.org/drawingml/2006/main" noGrp="1"/>
          </p:cNvSpPr>
          <p:nvPr/>
        </p:nvSpPr>
        <p:spPr>
          <a:xfrm xmlns:a="http://schemas.openxmlformats.org/drawingml/2006/main">
            <a:off x="5715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For Lena and Carla  •  Local prototype</a:t>
            </a:r>
          </a:p>
        </p:txBody>
      </p:sp>
      <p:sp>
        <p:nvSpPr>
          <p:cNvPr id="4" name="">
            <a:extLst xmlns:a="http://schemas.openxmlformats.org/drawingml/2006/main">
              <a:ext uri="{FF2B5EF4-FFF2-40B4-BE49-F238E27FC236}">
                <a16:creationId xmlns:a16="http://schemas.microsoft.com/office/drawing/2014/main" id="{A97169AF-1EB0-4B7B-9077-1EF7BA7B8695}"/>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2 / 5</a:t>
            </a:r>
          </a:p>
        </p:txBody>
      </p:sp>
      <p:sp>
        <p:nvSpPr>
          <p:cNvPr id="5" name="">
            <a:extLst xmlns:a="http://schemas.openxmlformats.org/drawingml/2006/main">
              <a:ext uri="{FF2B5EF4-FFF2-40B4-BE49-F238E27FC236}">
                <a16:creationId xmlns:a16="http://schemas.microsoft.com/office/drawing/2014/main" id="{159D19D6-C0D9-4CC3-98DD-96F7A2AAC89D}"/>
              </a:ext>
            </a:extLst>
          </p:cNvPr>
          <p:cNvSpPr>
            <a:spLocks xmlns:a="http://schemas.openxmlformats.org/drawingml/2006/main" noGrp="1"/>
          </p:cNvSpPr>
          <p:nvPr/>
        </p:nvSpPr>
        <p:spPr>
          <a:xfrm xmlns:a="http://schemas.openxmlformats.org/drawingml/2006/main">
            <a:off x="571500" y="19145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3A30"/>
                </a:solidFill>
                <a:latin typeface="Liberation Sans"/>
                <a:ea typeface="Liberation Sans"/>
                <a:cs typeface="Liberation Sans"/>
              </a:defRPr>
            </a:pPr>
            <a:r>
              <a:rPr sz="2100" b="1">
                <a:solidFill>
                  <a:srgbClr val="293A30"/>
                </a:solidFill>
                <a:latin typeface="Liberation Sans"/>
                <a:ea typeface="Liberation Sans"/>
                <a:cs typeface="Liberation Sans"/>
              </a:rPr>
              <a:t>01  Match the opening</a:t>
            </a:r>
          </a:p>
        </p:txBody>
      </p:sp>
      <p:sp>
        <p:nvSpPr>
          <p:cNvPr id="6" name="">
            <a:extLst xmlns:a="http://schemas.openxmlformats.org/drawingml/2006/main">
              <a:ext uri="{FF2B5EF4-FFF2-40B4-BE49-F238E27FC236}">
                <a16:creationId xmlns:a16="http://schemas.microsoft.com/office/drawing/2014/main" id="{ABECEB07-9164-49B8-862F-2FD01589888A}"/>
              </a:ext>
            </a:extLst>
          </p:cNvPr>
          <p:cNvSpPr>
            <a:spLocks xmlns:a="http://schemas.openxmlformats.org/drawingml/2006/main" noGrp="1"/>
          </p:cNvSpPr>
          <p:nvPr/>
        </p:nvSpPr>
        <p:spPr>
          <a:xfrm xmlns:a="http://schemas.openxmlformats.org/drawingml/2006/main">
            <a:off x="571500" y="2352675"/>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3A30"/>
                </a:solidFill>
                <a:latin typeface="Liberation Sans"/>
                <a:ea typeface="Liberation Sans"/>
                <a:cs typeface="Liberation Sans"/>
              </a:defRPr>
            </a:pPr>
            <a:r>
              <a:rPr sz="1875" b="0">
                <a:solidFill>
                  <a:srgbClr val="293A30"/>
                </a:solidFill>
                <a:latin typeface="Liberation Sans"/>
                <a:ea typeface="Liberation Sans"/>
                <a:cs typeface="Liberation Sans"/>
              </a:rPr>
              <a:t>Service, stylist and availability must fit the whole appointment. Oldest waitlist entry goes first.</a:t>
            </a:r>
          </a:p>
        </p:txBody>
      </p:sp>
      <p:sp>
        <p:nvSpPr>
          <p:cNvPr id="7" name="">
            <a:extLst xmlns:a="http://schemas.openxmlformats.org/drawingml/2006/main">
              <a:ext uri="{FF2B5EF4-FFF2-40B4-BE49-F238E27FC236}">
                <a16:creationId xmlns:a16="http://schemas.microsoft.com/office/drawing/2014/main" id="{296AFE07-01BC-4CEB-9D6F-AAA85DC8A26A}"/>
              </a:ext>
            </a:extLst>
          </p:cNvPr>
          <p:cNvSpPr>
            <a:spLocks xmlns:a="http://schemas.openxmlformats.org/drawingml/2006/main" noGrp="1"/>
          </p:cNvSpPr>
          <p:nvPr/>
        </p:nvSpPr>
        <p:spPr>
          <a:xfrm xmlns:a="http://schemas.openxmlformats.org/drawingml/2006/main">
            <a:off x="571500" y="34194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3A30"/>
                </a:solidFill>
                <a:latin typeface="Liberation Sans"/>
                <a:ea typeface="Liberation Sans"/>
                <a:cs typeface="Liberation Sans"/>
              </a:defRPr>
            </a:pPr>
            <a:r>
              <a:rPr sz="2100" b="1">
                <a:solidFill>
                  <a:srgbClr val="293A30"/>
                </a:solidFill>
                <a:latin typeface="Liberation Sans"/>
                <a:ea typeface="Liberation Sans"/>
                <a:cs typeface="Liberation Sans"/>
              </a:rPr>
              <a:t>02  Wait, then move on</a:t>
            </a:r>
          </a:p>
        </p:txBody>
      </p:sp>
      <p:sp>
        <p:nvSpPr>
          <p:cNvPr id="8" name="">
            <a:extLst xmlns:a="http://schemas.openxmlformats.org/drawingml/2006/main">
              <a:ext uri="{FF2B5EF4-FFF2-40B4-BE49-F238E27FC236}">
                <a16:creationId xmlns:a16="http://schemas.microsoft.com/office/drawing/2014/main" id="{C806F15E-587B-4583-9BAF-0DA40D51C42F}"/>
              </a:ext>
            </a:extLst>
          </p:cNvPr>
          <p:cNvSpPr>
            <a:spLocks xmlns:a="http://schemas.openxmlformats.org/drawingml/2006/main" noGrp="1"/>
          </p:cNvSpPr>
          <p:nvPr/>
        </p:nvSpPr>
        <p:spPr>
          <a:xfrm xmlns:a="http://schemas.openxmlformats.org/drawingml/2006/main">
            <a:off x="571500" y="3857625"/>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3A30"/>
                </a:solidFill>
                <a:latin typeface="Liberation Sans"/>
                <a:ea typeface="Liberation Sans"/>
                <a:cs typeface="Liberation Sans"/>
              </a:defRPr>
            </a:pPr>
            <a:r>
              <a:rPr sz="1875" b="0">
                <a:solidFill>
                  <a:srgbClr val="293A30"/>
                </a:solidFill>
                <a:latin typeface="Liberation Sans"/>
                <a:ea typeface="Liberation Sans"/>
                <a:cs typeface="Liberation Sans"/>
              </a:rPr>
              <a:t>Each client normally gets 15 minutes. A decline or timeout moves to the next person automatically.</a:t>
            </a:r>
          </a:p>
        </p:txBody>
      </p:sp>
      <p:sp>
        <p:nvSpPr>
          <p:cNvPr id="9" name="">
            <a:extLst xmlns:a="http://schemas.openxmlformats.org/drawingml/2006/main">
              <a:ext uri="{FF2B5EF4-FFF2-40B4-BE49-F238E27FC236}">
                <a16:creationId xmlns:a16="http://schemas.microsoft.com/office/drawing/2014/main" id="{B70A82A6-DC55-40B5-BAE0-0ECED85F256A}"/>
              </a:ext>
            </a:extLst>
          </p:cNvPr>
          <p:cNvSpPr>
            <a:spLocks xmlns:a="http://schemas.openxmlformats.org/drawingml/2006/main" noGrp="1"/>
          </p:cNvSpPr>
          <p:nvPr/>
        </p:nvSpPr>
        <p:spPr>
          <a:xfrm xmlns:a="http://schemas.openxmlformats.org/drawingml/2006/main">
            <a:off x="571500" y="4914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3A30"/>
                </a:solidFill>
                <a:latin typeface="Liberation Sans"/>
                <a:ea typeface="Liberation Sans"/>
                <a:cs typeface="Liberation Sans"/>
              </a:defRPr>
            </a:pPr>
            <a:r>
              <a:rPr sz="2100" b="1">
                <a:solidFill>
                  <a:srgbClr val="293A30"/>
                </a:solidFill>
                <a:latin typeface="Liberation Sans"/>
                <a:ea typeface="Liberation Sans"/>
                <a:cs typeface="Liberation Sans"/>
              </a:rPr>
              <a:t>03  Confirm one booking</a:t>
            </a:r>
          </a:p>
        </p:txBody>
      </p:sp>
      <p:sp>
        <p:nvSpPr>
          <p:cNvPr id="10" name="">
            <a:extLst xmlns:a="http://schemas.openxmlformats.org/drawingml/2006/main">
              <a:ext uri="{FF2B5EF4-FFF2-40B4-BE49-F238E27FC236}">
                <a16:creationId xmlns:a16="http://schemas.microsoft.com/office/drawing/2014/main" id="{E75EBB7F-B9E6-4CF8-B6C4-B1EB330801FA}"/>
              </a:ext>
            </a:extLst>
          </p:cNvPr>
          <p:cNvSpPr>
            <a:spLocks xmlns:a="http://schemas.openxmlformats.org/drawingml/2006/main" noGrp="1"/>
          </p:cNvSpPr>
          <p:nvPr/>
        </p:nvSpPr>
        <p:spPr>
          <a:xfrm xmlns:a="http://schemas.openxmlformats.org/drawingml/2006/main">
            <a:off x="571500" y="5353050"/>
            <a:ext cx="4857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3A30"/>
                </a:solidFill>
                <a:latin typeface="Liberation Sans"/>
                <a:ea typeface="Liberation Sans"/>
                <a:cs typeface="Liberation Sans"/>
              </a:defRPr>
            </a:pPr>
            <a:r>
              <a:rPr sz="1800" b="0">
                <a:solidFill>
                  <a:srgbClr val="293A30"/>
                </a:solidFill>
                <a:latin typeface="Liberation Sans"/>
                <a:ea typeface="Liberation Sans"/>
                <a:cs typeface="Liberation Sans"/>
              </a:rPr>
              <a:t>A current “yes” confirms. Late replies cannot take the next client’s turn. Their overlapping offers are withdrawn.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e3d9f35524e4f74"/>
          <a:srcRect xmlns:a="http://schemas.openxmlformats.org/drawingml/2006/main" l="0" t="9124" r="0" b="9124"/>
          <a:stretch xmlns:a="http://schemas.openxmlformats.org/drawingml/2006/main">
            <a:fillRect l="0" t="0" r="0" b="0"/>
          </a:stretch>
        </p:blipFill>
        <p:spPr>
          <a:xfrm xmlns:a="http://schemas.openxmlformats.org/drawingml/2006/main">
            <a:off x="5857875" y="1885950"/>
            <a:ext cx="5762625" cy="3876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48ABF9B-A791-4026-9EE2-337EB25DFE19}"/>
              </a:ext>
            </a:extLst>
          </p:cNvPr>
          <p:cNvSpPr>
            <a:spLocks xmlns:a="http://schemas.openxmlformats.org/drawingml/2006/main" noGrp="1"/>
          </p:cNvSpPr>
          <p:nvPr/>
        </p:nvSpPr>
        <p:spPr>
          <a:xfrm xmlns:a="http://schemas.openxmlformats.org/drawingml/2006/main">
            <a:off x="5857875" y="5905500"/>
            <a:ext cx="5734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65B"/>
                </a:solidFill>
                <a:latin typeface="Liberation Sans"/>
                <a:ea typeface="Liberation Sans"/>
                <a:cs typeface="Liberation Sans"/>
              </a:defRPr>
            </a:pPr>
            <a:r>
              <a:rPr sz="1200" b="0">
                <a:solidFill>
                  <a:srgbClr val="5B665B"/>
                </a:solidFill>
                <a:latin typeface="Liberation Sans"/>
                <a:ea typeface="Liberation Sans"/>
                <a:cs typeface="Liberation Sans"/>
              </a:rPr>
              <a:t>Actual demo: Alex timed out, then Sam accepted.</a:t>
            </a:r>
          </a:p>
          <a:p xmlns:a="http://schemas.openxmlformats.org/drawingml/2006/main">
            <a:pPr>
              <a:defRPr sz="1200" b="0">
                <a:solidFill>
                  <a:srgbClr val="5B665B"/>
                </a:solidFill>
                <a:latin typeface="Liberation Sans"/>
                <a:ea typeface="Liberation Sans"/>
                <a:cs typeface="Liberation Sans"/>
              </a:defRPr>
            </a:pPr>
            <a:r>
              <a:rPr sz="1200" b="0">
                <a:solidFill>
                  <a:srgbClr val="5B665B"/>
                </a:solidFill>
                <a:latin typeface="Liberation Sans"/>
                <a:ea typeface="Liberation Sans"/>
                <a:cs typeface="Liberation Sans"/>
              </a:rPr>
              <a:t>This scenario uses a shortened 20-second timer.</a:t>
            </a:r>
          </a:p>
        </p:txBody>
      </p:sp>
    </p:spTree>
    <p:extLst>
      <p:ext uri="{BB962C8B-B14F-4D97-AF65-F5344CB8AC3E}">
        <p14:creationId xmlns:p14="http://schemas.microsoft.com/office/powerpoint/2010/main" val="2026714552"/>
      </p:ext>
    </p:extLst>
  </p:cSld>
</p:sld>
</file>

<file path=ppt/slides/slide3.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4D8D09-5F51-4F4C-80A6-42F1DAE39759}"/>
              </a:ext>
            </a:extLst>
          </p:cNvPr>
          <p:cNvSpPr>
            <a:spLocks xmlns:a="http://schemas.openxmlformats.org/drawingml/2006/main" noGrp="1"/>
          </p:cNvSpPr>
          <p:nvPr/>
        </p:nvSpPr>
        <p:spPr>
          <a:xfrm xmlns:a="http://schemas.openxmlformats.org/drawingml/2006/main">
            <a:off x="571500" y="2857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B665B"/>
                </a:solidFill>
                <a:latin typeface="Liberation Sans"/>
                <a:ea typeface="Liberation Sans"/>
                <a:cs typeface="Liberation Sans"/>
              </a:defRPr>
            </a:pPr>
            <a:r>
              <a:rPr sz="1200" b="1">
                <a:solidFill>
                  <a:srgbClr val="5B665B"/>
                </a:solidFill>
                <a:latin typeface="Liberation Sans"/>
                <a:ea typeface="Liberation Sans"/>
                <a:cs typeface="Liberation Sans"/>
              </a:rPr>
              <a:t>JUNIPER SALON</a:t>
            </a:r>
          </a:p>
        </p:txBody>
      </p:sp>
      <p:sp>
        <p:nvSpPr>
          <p:cNvPr id="2" name="">
            <a:extLst xmlns:a="http://schemas.openxmlformats.org/drawingml/2006/main">
              <a:ext uri="{FF2B5EF4-FFF2-40B4-BE49-F238E27FC236}">
                <a16:creationId xmlns:a16="http://schemas.microsoft.com/office/drawing/2014/main" id="{0453EB3D-D89A-430F-83C5-CD3EA8FC0D60}"/>
              </a:ext>
            </a:extLst>
          </p:cNvPr>
          <p:cNvSpPr>
            <a:spLocks xmlns:a="http://schemas.openxmlformats.org/drawingml/2006/main" noGrp="1"/>
          </p:cNvSpPr>
          <p:nvPr/>
        </p:nvSpPr>
        <p:spPr>
          <a:xfrm xmlns:a="http://schemas.openxmlformats.org/drawingml/2006/main">
            <a:off x="571500" y="7620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243F34"/>
                </a:solidFill>
                <a:latin typeface="Liberation Serif"/>
                <a:ea typeface="Liberation Serif"/>
                <a:cs typeface="Liberation Serif"/>
              </a:defRPr>
            </a:pPr>
            <a:r>
              <a:rPr sz="3750" b="0">
                <a:solidFill>
                  <a:srgbClr val="243F34"/>
                </a:solidFill>
                <a:latin typeface="Liberation Serif"/>
                <a:ea typeface="Liberation Serif"/>
                <a:cs typeface="Liberation Serif"/>
              </a:rPr>
              <a:t>Staff can see when help is needed</a:t>
            </a:r>
          </a:p>
        </p:txBody>
      </p:sp>
      <p:sp>
        <p:nvSpPr>
          <p:cNvPr id="3" name="">
            <a:extLst xmlns:a="http://schemas.openxmlformats.org/drawingml/2006/main">
              <a:ext uri="{FF2B5EF4-FFF2-40B4-BE49-F238E27FC236}">
                <a16:creationId xmlns:a16="http://schemas.microsoft.com/office/drawing/2014/main" id="{4003BE65-29E5-41DA-9F92-0BACF18B00FF}"/>
              </a:ext>
            </a:extLst>
          </p:cNvPr>
          <p:cNvSpPr>
            <a:spLocks xmlns:a="http://schemas.openxmlformats.org/drawingml/2006/main" noGrp="1"/>
          </p:cNvSpPr>
          <p:nvPr/>
        </p:nvSpPr>
        <p:spPr>
          <a:xfrm xmlns:a="http://schemas.openxmlformats.org/drawingml/2006/main">
            <a:off x="5715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For Lena and Carla  •  Local prototype</a:t>
            </a:r>
          </a:p>
        </p:txBody>
      </p:sp>
      <p:sp>
        <p:nvSpPr>
          <p:cNvPr id="4" name="">
            <a:extLst xmlns:a="http://schemas.openxmlformats.org/drawingml/2006/main">
              <a:ext uri="{FF2B5EF4-FFF2-40B4-BE49-F238E27FC236}">
                <a16:creationId xmlns:a16="http://schemas.microsoft.com/office/drawing/2014/main" id="{1DA1927E-6385-4882-BF4C-1EBF2BAE1951}"/>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3 / 5</a:t>
            </a:r>
          </a:p>
        </p:txBody>
      </p:sp>
      <p:sp>
        <p:nvSpPr>
          <p:cNvPr id="5" name="">
            <a:extLst xmlns:a="http://schemas.openxmlformats.org/drawingml/2006/main">
              <a:ext uri="{FF2B5EF4-FFF2-40B4-BE49-F238E27FC236}">
                <a16:creationId xmlns:a16="http://schemas.microsoft.com/office/drawing/2014/main" id="{6D907A4B-7531-4707-A0B1-92730A6E4A1C}"/>
              </a:ext>
            </a:extLst>
          </p:cNvPr>
          <p:cNvSpPr>
            <a:spLocks xmlns:a="http://schemas.openxmlformats.org/drawingml/2006/main" noGrp="1"/>
          </p:cNvSpPr>
          <p:nvPr/>
        </p:nvSpPr>
        <p:spPr>
          <a:xfrm xmlns:a="http://schemas.openxmlformats.org/drawingml/2006/main">
            <a:off x="571500" y="1914525"/>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93A30"/>
                </a:solidFill>
                <a:latin typeface="Liberation Sans"/>
                <a:ea typeface="Liberation Sans"/>
                <a:cs typeface="Liberation Sans"/>
              </a:defRPr>
            </a:pPr>
            <a:r>
              <a:rPr sz="2325" b="1">
                <a:solidFill>
                  <a:srgbClr val="293A30"/>
                </a:solidFill>
                <a:latin typeface="Liberation Sans"/>
                <a:ea typeface="Liberation Sans"/>
                <a:cs typeface="Liberation Sans"/>
              </a:rPr>
              <a:t>A failed message pauses outreach.</a:t>
            </a:r>
          </a:p>
        </p:txBody>
      </p:sp>
      <p:sp>
        <p:nvSpPr>
          <p:cNvPr id="6" name="">
            <a:extLst xmlns:a="http://schemas.openxmlformats.org/drawingml/2006/main">
              <a:ext uri="{FF2B5EF4-FFF2-40B4-BE49-F238E27FC236}">
                <a16:creationId xmlns:a16="http://schemas.microsoft.com/office/drawing/2014/main" id="{45EC5114-8884-4499-A132-0FB1881B51B3}"/>
              </a:ext>
            </a:extLst>
          </p:cNvPr>
          <p:cNvSpPr>
            <a:spLocks xmlns:a="http://schemas.openxmlformats.org/drawingml/2006/main" noGrp="1"/>
          </p:cNvSpPr>
          <p:nvPr/>
        </p:nvSpPr>
        <p:spPr>
          <a:xfrm xmlns:a="http://schemas.openxmlformats.org/drawingml/2006/main">
            <a:off x="571500" y="2733675"/>
            <a:ext cx="4953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93A30"/>
                </a:solidFill>
                <a:latin typeface="Liberation Sans"/>
                <a:ea typeface="Liberation Sans"/>
                <a:cs typeface="Liberation Sans"/>
              </a:defRPr>
            </a:pPr>
            <a:r>
              <a:rPr sz="1950" b="0">
                <a:solidFill>
                  <a:srgbClr val="293A30"/>
                </a:solidFill>
                <a:latin typeface="Liberation Sans"/>
                <a:ea typeface="Liberation Sans"/>
                <a:cs typeface="Liberation Sans"/>
              </a:rPr>
              <a:t>Lena or Carla can see the client and phone number, record a phone response, or explicitly move on. No automatic retries.</a:t>
            </a:r>
          </a:p>
        </p:txBody>
      </p:sp>
      <p:sp>
        <p:nvSpPr>
          <p:cNvPr id="7" name="">
            <a:extLst xmlns:a="http://schemas.openxmlformats.org/drawingml/2006/main">
              <a:ext uri="{FF2B5EF4-FFF2-40B4-BE49-F238E27FC236}">
                <a16:creationId xmlns:a16="http://schemas.microsoft.com/office/drawing/2014/main" id="{BE2CDE60-F2DF-4C81-AE4F-994AAB9E212E}"/>
              </a:ext>
            </a:extLst>
          </p:cNvPr>
          <p:cNvSpPr>
            <a:spLocks xmlns:a="http://schemas.openxmlformats.org/drawingml/2006/main" noGrp="1"/>
          </p:cNvSpPr>
          <p:nvPr/>
        </p:nvSpPr>
        <p:spPr>
          <a:xfrm xmlns:a="http://schemas.openxmlformats.org/drawingml/2006/main">
            <a:off x="571500" y="4267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3A30"/>
                </a:solidFill>
                <a:latin typeface="Liberation Sans"/>
                <a:ea typeface="Liberation Sans"/>
                <a:cs typeface="Liberation Sans"/>
              </a:defRPr>
            </a:pPr>
            <a:r>
              <a:rPr sz="2100" b="1">
                <a:solidFill>
                  <a:srgbClr val="293A30"/>
                </a:solidFill>
                <a:latin typeface="Liberation Sans"/>
                <a:ea typeface="Liberation Sans"/>
                <a:cs typeface="Liberation Sans"/>
              </a:rPr>
              <a:t>The history stays visible.</a:t>
            </a:r>
          </a:p>
        </p:txBody>
      </p:sp>
      <p:sp>
        <p:nvSpPr>
          <p:cNvPr id="8" name="">
            <a:extLst xmlns:a="http://schemas.openxmlformats.org/drawingml/2006/main">
              <a:ext uri="{FF2B5EF4-FFF2-40B4-BE49-F238E27FC236}">
                <a16:creationId xmlns:a16="http://schemas.microsoft.com/office/drawing/2014/main" id="{7B9C3A58-B057-4040-822F-C1E684B601E8}"/>
              </a:ext>
            </a:extLst>
          </p:cNvPr>
          <p:cNvSpPr>
            <a:spLocks xmlns:a="http://schemas.openxmlformats.org/drawingml/2006/main" noGrp="1"/>
          </p:cNvSpPr>
          <p:nvPr/>
        </p:nvSpPr>
        <p:spPr>
          <a:xfrm xmlns:a="http://schemas.openxmlformats.org/drawingml/2006/main">
            <a:off x="571500" y="4733925"/>
            <a:ext cx="4953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93A30"/>
                </a:solidFill>
                <a:latin typeface="Liberation Sans"/>
                <a:ea typeface="Liberation Sans"/>
                <a:cs typeface="Liberation Sans"/>
              </a:defRPr>
            </a:pPr>
            <a:r>
              <a:rPr sz="1950" b="0">
                <a:solidFill>
                  <a:srgbClr val="293A30"/>
                </a:solidFill>
                <a:latin typeface="Liberation Sans"/>
                <a:ea typeface="Liberation Sans"/>
                <a:cs typeface="Liberation Sans"/>
              </a:rPr>
              <a:t>Staff can stop or fill an opening. A canceled booking needs explicit reopening. The final cutoff closes unresolved openings.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d6d4399d56a46fd"/>
          <a:srcRect xmlns:a="http://schemas.openxmlformats.org/drawingml/2006/main" l="0" t="5407" r="0" b="5407"/>
          <a:stretch xmlns:a="http://schemas.openxmlformats.org/drawingml/2006/main">
            <a:fillRect l="0" t="0" r="0" b="0"/>
          </a:stretch>
        </p:blipFill>
        <p:spPr>
          <a:xfrm xmlns:a="http://schemas.openxmlformats.org/drawingml/2006/main">
            <a:off x="5924550" y="1800225"/>
            <a:ext cx="5619750" cy="41243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A691DB3-D5FC-4433-A78B-9A2CD6FAAAAA}"/>
              </a:ext>
            </a:extLst>
          </p:cNvPr>
          <p:cNvSpPr>
            <a:spLocks xmlns:a="http://schemas.openxmlformats.org/drawingml/2006/main" noGrp="1"/>
          </p:cNvSpPr>
          <p:nvPr/>
        </p:nvSpPr>
        <p:spPr>
          <a:xfrm xmlns:a="http://schemas.openxmlformats.org/drawingml/2006/main">
            <a:off x="5924550" y="6076950"/>
            <a:ext cx="560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65B"/>
                </a:solidFill>
                <a:latin typeface="Liberation Sans"/>
                <a:ea typeface="Liberation Sans"/>
                <a:cs typeface="Liberation Sans"/>
              </a:defRPr>
            </a:pPr>
            <a:r>
              <a:rPr sz="1200" b="0">
                <a:solidFill>
                  <a:srgbClr val="5B665B"/>
                </a:solidFill>
                <a:latin typeface="Liberation Sans"/>
                <a:ea typeface="Liberation Sans"/>
                <a:cs typeface="Liberation Sans"/>
              </a:rPr>
              <a:t>Actual demo: simulated delivery failure and staff controls.</a:t>
            </a:r>
          </a:p>
        </p:txBody>
      </p:sp>
    </p:spTree>
    <p:extLst>
      <p:ext uri="{BB962C8B-B14F-4D97-AF65-F5344CB8AC3E}">
        <p14:creationId xmlns:p14="http://schemas.microsoft.com/office/powerpoint/2010/main" val="707548623"/>
      </p:ext>
    </p:extLst>
  </p:cSld>
</p:sld>
</file>

<file path=ppt/slides/slide4.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0DB929-924F-42F3-BD21-A79134E6B788}"/>
              </a:ext>
            </a:extLst>
          </p:cNvPr>
          <p:cNvSpPr>
            <a:spLocks xmlns:a="http://schemas.openxmlformats.org/drawingml/2006/main" noGrp="1"/>
          </p:cNvSpPr>
          <p:nvPr/>
        </p:nvSpPr>
        <p:spPr>
          <a:xfrm xmlns:a="http://schemas.openxmlformats.org/drawingml/2006/main">
            <a:off x="571500" y="2857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B665B"/>
                </a:solidFill>
                <a:latin typeface="Liberation Sans"/>
                <a:ea typeface="Liberation Sans"/>
                <a:cs typeface="Liberation Sans"/>
              </a:defRPr>
            </a:pPr>
            <a:r>
              <a:rPr sz="1200" b="1">
                <a:solidFill>
                  <a:srgbClr val="5B665B"/>
                </a:solidFill>
                <a:latin typeface="Liberation Sans"/>
                <a:ea typeface="Liberation Sans"/>
                <a:cs typeface="Liberation Sans"/>
              </a:rPr>
              <a:t>JUNIPER SALON</a:t>
            </a:r>
          </a:p>
        </p:txBody>
      </p:sp>
      <p:sp>
        <p:nvSpPr>
          <p:cNvPr id="2" name="">
            <a:extLst xmlns:a="http://schemas.openxmlformats.org/drawingml/2006/main">
              <a:ext uri="{FF2B5EF4-FFF2-40B4-BE49-F238E27FC236}">
                <a16:creationId xmlns:a16="http://schemas.microsoft.com/office/drawing/2014/main" id="{85B17344-BDD4-40FB-B539-924A6FFF8265}"/>
              </a:ext>
            </a:extLst>
          </p:cNvPr>
          <p:cNvSpPr>
            <a:spLocks xmlns:a="http://schemas.openxmlformats.org/drawingml/2006/main" noGrp="1"/>
          </p:cNvSpPr>
          <p:nvPr/>
        </p:nvSpPr>
        <p:spPr>
          <a:xfrm xmlns:a="http://schemas.openxmlformats.org/drawingml/2006/main">
            <a:off x="571500" y="7620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243F34"/>
                </a:solidFill>
                <a:latin typeface="Liberation Serif"/>
                <a:ea typeface="Liberation Serif"/>
                <a:cs typeface="Liberation Serif"/>
              </a:defRPr>
            </a:pPr>
            <a:r>
              <a:rPr sz="3750" b="0">
                <a:solidFill>
                  <a:srgbClr val="243F34"/>
                </a:solidFill>
                <a:latin typeface="Liberation Serif"/>
                <a:ea typeface="Liberation Serif"/>
                <a:cs typeface="Liberation Serif"/>
              </a:rPr>
              <a:t>What works today, and what is simulated</a:t>
            </a:r>
          </a:p>
        </p:txBody>
      </p:sp>
      <p:sp>
        <p:nvSpPr>
          <p:cNvPr id="3" name="">
            <a:extLst xmlns:a="http://schemas.openxmlformats.org/drawingml/2006/main">
              <a:ext uri="{FF2B5EF4-FFF2-40B4-BE49-F238E27FC236}">
                <a16:creationId xmlns:a16="http://schemas.microsoft.com/office/drawing/2014/main" id="{9D03CE1A-C83D-46D3-88F4-6E5D2295CC40}"/>
              </a:ext>
            </a:extLst>
          </p:cNvPr>
          <p:cNvSpPr>
            <a:spLocks xmlns:a="http://schemas.openxmlformats.org/drawingml/2006/main" noGrp="1"/>
          </p:cNvSpPr>
          <p:nvPr/>
        </p:nvSpPr>
        <p:spPr>
          <a:xfrm xmlns:a="http://schemas.openxmlformats.org/drawingml/2006/main">
            <a:off x="5715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For Lena and Carla  •  Local prototype</a:t>
            </a:r>
          </a:p>
        </p:txBody>
      </p:sp>
      <p:sp>
        <p:nvSpPr>
          <p:cNvPr id="4" name="">
            <a:extLst xmlns:a="http://schemas.openxmlformats.org/drawingml/2006/main">
              <a:ext uri="{FF2B5EF4-FFF2-40B4-BE49-F238E27FC236}">
                <a16:creationId xmlns:a16="http://schemas.microsoft.com/office/drawing/2014/main" id="{17638227-1A46-4B31-A479-647F004C696A}"/>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B665B"/>
                </a:solidFill>
                <a:latin typeface="Liberation Sans"/>
                <a:ea typeface="Liberation Sans"/>
                <a:cs typeface="Liberation Sans"/>
              </a:defRPr>
            </a:pPr>
            <a:r>
              <a:rPr sz="1050" b="0">
                <a:solidFill>
                  <a:srgbClr val="5B665B"/>
                </a:solidFill>
                <a:latin typeface="Liberation Sans"/>
                <a:ea typeface="Liberation Sans"/>
                <a:cs typeface="Liberation Sans"/>
              </a:rPr>
              <a:t>4 / 5</a:t>
            </a:r>
          </a:p>
        </p:txBody>
      </p:sp>
      <p:sp>
        <p:nvSpPr>
          <p:cNvPr id="5" name="">
            <a:extLst xmlns:a="http://schemas.openxmlformats.org/drawingml/2006/main">
              <a:ext uri="{FF2B5EF4-FFF2-40B4-BE49-F238E27FC236}">
                <a16:creationId xmlns:a16="http://schemas.microsoft.com/office/drawing/2014/main" id="{EB7323D5-847B-4617-B6F0-3CF385FF5F76}"/>
              </a:ext>
            </a:extLst>
          </p:cNvPr>
          <p:cNvSpPr>
            <a:spLocks xmlns:a="http://schemas.openxmlformats.org/drawingml/2006/main" noGrp="1"/>
          </p:cNvSpPr>
          <p:nvPr/>
        </p:nvSpPr>
        <p:spPr>
          <a:xfrm xmlns:a="http://schemas.openxmlformats.org/drawingml/2006/main">
            <a:off x="571500" y="19526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93A30"/>
                </a:solidFill>
                <a:latin typeface="Liberation Serif"/>
                <a:ea typeface="Liberation Serif"/>
                <a:cs typeface="Liberation Serif"/>
              </a:defRPr>
            </a:pPr>
            <a:r>
              <a:rPr sz="2400" b="1">
                <a:solidFill>
                  <a:srgbClr val="293A30"/>
                </a:solidFill>
                <a:latin typeface="Liberation Serif"/>
                <a:ea typeface="Liberation Serif"/>
                <a:cs typeface="Liberation Serif"/>
              </a:rPr>
              <a:t>Working locally</a:t>
            </a:r>
          </a:p>
        </p:txBody>
      </p:sp>
      <p:sp>
        <p:nvSpPr>
          <p:cNvPr id="6" name="">
            <a:extLst xmlns:a="http://schemas.openxmlformats.org/drawingml/2006/main">
              <a:ext uri="{FF2B5EF4-FFF2-40B4-BE49-F238E27FC236}">
                <a16:creationId xmlns:a16="http://schemas.microsoft.com/office/drawing/2014/main" id="{82CFD566-2CEC-4654-B765-834B111A9598}"/>
              </a:ext>
            </a:extLst>
          </p:cNvPr>
          <p:cNvSpPr>
            <a:spLocks xmlns:a="http://schemas.openxmlformats.org/drawingml/2006/main" noGrp="1"/>
          </p:cNvSpPr>
          <p:nvPr/>
        </p:nvSpPr>
        <p:spPr>
          <a:xfrm xmlns:a="http://schemas.openxmlformats.org/drawingml/2006/main">
            <a:off x="571500" y="25812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Matching, ordered offers, response deadlines and booking safeguards run in the prototype.</a:t>
            </a:r>
          </a:p>
        </p:txBody>
      </p:sp>
      <p:sp>
        <p:nvSpPr>
          <p:cNvPr id="7" name="">
            <a:extLst xmlns:a="http://schemas.openxmlformats.org/drawingml/2006/main">
              <a:ext uri="{FF2B5EF4-FFF2-40B4-BE49-F238E27FC236}">
                <a16:creationId xmlns:a16="http://schemas.microsoft.com/office/drawing/2014/main" id="{11CCF318-C3C3-4797-A393-4C08975AD744}"/>
              </a:ext>
            </a:extLst>
          </p:cNvPr>
          <p:cNvSpPr>
            <a:spLocks xmlns:a="http://schemas.openxmlformats.org/drawingml/2006/main" noGrp="1"/>
          </p:cNvSpPr>
          <p:nvPr/>
        </p:nvSpPr>
        <p:spPr>
          <a:xfrm xmlns:a="http://schemas.openxmlformats.org/drawingml/2006/main">
            <a:off x="571500" y="383857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Temporal preserves the queue, timers and history when the page closes or the worker restarts.</a:t>
            </a:r>
          </a:p>
        </p:txBody>
      </p:sp>
      <p:sp>
        <p:nvSpPr>
          <p:cNvPr id="8" name="">
            <a:extLst xmlns:a="http://schemas.openxmlformats.org/drawingml/2006/main">
              <a:ext uri="{FF2B5EF4-FFF2-40B4-BE49-F238E27FC236}">
                <a16:creationId xmlns:a16="http://schemas.microsoft.com/office/drawing/2014/main" id="{D7BDD19B-DBEA-4D26-A496-0FDC60468E43}"/>
              </a:ext>
            </a:extLst>
          </p:cNvPr>
          <p:cNvSpPr>
            <a:spLocks xmlns:a="http://schemas.openxmlformats.org/drawingml/2006/main" noGrp="1"/>
          </p:cNvSpPr>
          <p:nvPr/>
        </p:nvSpPr>
        <p:spPr>
          <a:xfrm xmlns:a="http://schemas.openxmlformats.org/drawingml/2006/main">
            <a:off x="571500" y="5162550"/>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Staff can review outcomes and act on failures from one dashboard.</a:t>
            </a:r>
          </a:p>
        </p:txBody>
      </p:sp>
      <p:sp>
        <p:nvSpPr>
          <p:cNvPr id="9" name="">
            <a:extLst xmlns:a="http://schemas.openxmlformats.org/drawingml/2006/main">
              <a:ext uri="{FF2B5EF4-FFF2-40B4-BE49-F238E27FC236}">
                <a16:creationId xmlns:a16="http://schemas.microsoft.com/office/drawing/2014/main" id="{BFCB2A2B-04BB-4D23-9BFC-025550C256E2}"/>
              </a:ext>
            </a:extLst>
          </p:cNvPr>
          <p:cNvSpPr>
            <a:spLocks xmlns:a="http://schemas.openxmlformats.org/drawingml/2006/main" noGrp="1"/>
          </p:cNvSpPr>
          <p:nvPr/>
        </p:nvSpPr>
        <p:spPr>
          <a:xfrm xmlns:a="http://schemas.openxmlformats.org/drawingml/2006/main">
            <a:off x="6572250" y="195262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93A30"/>
                </a:solidFill>
                <a:latin typeface="Liberation Serif"/>
                <a:ea typeface="Liberation Serif"/>
                <a:cs typeface="Liberation Serif"/>
              </a:defRPr>
            </a:pPr>
            <a:r>
              <a:rPr sz="2400" b="1">
                <a:solidFill>
                  <a:srgbClr val="293A30"/>
                </a:solidFill>
                <a:latin typeface="Liberation Serif"/>
                <a:ea typeface="Liberation Serif"/>
                <a:cs typeface="Liberation Serif"/>
              </a:rPr>
              <a:t>Prototype boundaries</a:t>
            </a:r>
          </a:p>
        </p:txBody>
      </p:sp>
      <p:sp>
        <p:nvSpPr>
          <p:cNvPr id="10" name="">
            <a:extLst xmlns:a="http://schemas.openxmlformats.org/drawingml/2006/main">
              <a:ext uri="{FF2B5EF4-FFF2-40B4-BE49-F238E27FC236}">
                <a16:creationId xmlns:a16="http://schemas.microsoft.com/office/drawing/2014/main" id="{990AC7C1-3DEE-4CF4-BAB1-FB4B171EA7C4}"/>
              </a:ext>
            </a:extLst>
          </p:cNvPr>
          <p:cNvSpPr>
            <a:spLocks xmlns:a="http://schemas.openxmlformats.org/drawingml/2006/main" noGrp="1"/>
          </p:cNvSpPr>
          <p:nvPr/>
        </p:nvSpPr>
        <p:spPr>
          <a:xfrm xmlns:a="http://schemas.openxmlformats.org/drawingml/2006/main">
            <a:off x="6572250" y="2581275"/>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SMS is simulated. Sample clients respond through the on-screen client preview.</a:t>
            </a:r>
          </a:p>
        </p:txBody>
      </p:sp>
      <p:sp>
        <p:nvSpPr>
          <p:cNvPr id="11" name="">
            <a:extLst xmlns:a="http://schemas.openxmlformats.org/drawingml/2006/main">
              <a:ext uri="{FF2B5EF4-FFF2-40B4-BE49-F238E27FC236}">
                <a16:creationId xmlns:a16="http://schemas.microsoft.com/office/drawing/2014/main" id="{AF4CF4DA-E71C-45A0-8A24-2971F361F816}"/>
              </a:ext>
            </a:extLst>
          </p:cNvPr>
          <p:cNvSpPr>
            <a:spLocks xmlns:a="http://schemas.openxmlformats.org/drawingml/2006/main" noGrp="1"/>
          </p:cNvSpPr>
          <p:nvPr/>
        </p:nvSpPr>
        <p:spPr>
          <a:xfrm xmlns:a="http://schemas.openxmlformats.org/drawingml/2006/main">
            <a:off x="6572250" y="3838575"/>
            <a:ext cx="5000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Square updates stay manual, as Lena requested. Staff still checks external bookings for conflicts.</a:t>
            </a:r>
          </a:p>
        </p:txBody>
      </p:sp>
      <p:sp>
        <p:nvSpPr>
          <p:cNvPr id="12" name="">
            <a:extLst xmlns:a="http://schemas.openxmlformats.org/drawingml/2006/main">
              <a:ext uri="{FF2B5EF4-FFF2-40B4-BE49-F238E27FC236}">
                <a16:creationId xmlns:a16="http://schemas.microsoft.com/office/drawing/2014/main" id="{D2076A28-89B5-476B-B64F-A94AB9073706}"/>
              </a:ext>
            </a:extLst>
          </p:cNvPr>
          <p:cNvSpPr>
            <a:spLocks xmlns:a="http://schemas.openxmlformats.org/drawingml/2006/main" noGrp="1"/>
          </p:cNvSpPr>
          <p:nvPr/>
        </p:nvSpPr>
        <p:spPr>
          <a:xfrm xmlns:a="http://schemas.openxmlformats.org/drawingml/2006/main">
            <a:off x="6572250" y="5162550"/>
            <a:ext cx="5000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3A30"/>
                </a:solidFill>
                <a:latin typeface="Liberation Sans"/>
                <a:ea typeface="Liberation Sans"/>
                <a:cs typeface="Liberation Sans"/>
              </a:defRPr>
            </a:pPr>
            <a:r>
              <a:rPr sz="2100" b="0">
                <a:solidFill>
                  <a:srgbClr val="293A30"/>
                </a:solidFill>
                <a:latin typeface="Liberation Sans"/>
                <a:ea typeface="Liberation Sans"/>
                <a:cs typeface="Liberation Sans"/>
              </a:rPr>
              <a:t>No real client portal, secure staff login or public deployment is included.</a:t>
            </a:r>
          </a:p>
        </p:txBody>
      </p:sp>
    </p:spTree>
    <p:extLst>
      <p:ext uri="{BB962C8B-B14F-4D97-AF65-F5344CB8AC3E}">
        <p14:creationId xmlns:p14="http://schemas.microsoft.com/office/powerpoint/2010/main" val="1194759211"/>
      </p:ext>
    </p:extLst>
  </p:cSld>
</p:sld>
</file>

<file path=ppt/slides/slide5.xml><?xml version="1.0" encoding="utf-8"?>
<p:sld xmlns:p="http://schemas.openxmlformats.org/presentationml/2006/main">
  <p:cSld>
    <p:bg>
      <p:bgPr>
        <a:solidFill xmlns:a="http://schemas.openxmlformats.org/drawingml/2006/main">
          <a:srgbClr val="243F3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ABE1F1-6871-46DD-8A66-2F65A3AABA5A}"/>
              </a:ext>
            </a:extLst>
          </p:cNvPr>
          <p:cNvSpPr>
            <a:spLocks xmlns:a="http://schemas.openxmlformats.org/drawingml/2006/main" noGrp="1"/>
          </p:cNvSpPr>
          <p:nvPr/>
        </p:nvSpPr>
        <p:spPr>
          <a:xfrm xmlns:a="http://schemas.openxmlformats.org/drawingml/2006/main">
            <a:off x="571500" y="2857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5DCC2"/>
                </a:solidFill>
                <a:latin typeface="Liberation Sans"/>
                <a:ea typeface="Liberation Sans"/>
                <a:cs typeface="Liberation Sans"/>
              </a:defRPr>
            </a:pPr>
            <a:r>
              <a:rPr sz="1200" b="1">
                <a:solidFill>
                  <a:srgbClr val="D5DCC2"/>
                </a:solidFill>
                <a:latin typeface="Liberation Sans"/>
                <a:ea typeface="Liberation Sans"/>
                <a:cs typeface="Liberation Sans"/>
              </a:rPr>
              <a:t>JUNIPER SALON</a:t>
            </a:r>
          </a:p>
        </p:txBody>
      </p:sp>
      <p:sp>
        <p:nvSpPr>
          <p:cNvPr id="2" name="">
            <a:extLst xmlns:a="http://schemas.openxmlformats.org/drawingml/2006/main">
              <a:ext uri="{FF2B5EF4-FFF2-40B4-BE49-F238E27FC236}">
                <a16:creationId xmlns:a16="http://schemas.microsoft.com/office/drawing/2014/main" id="{AFC1EDFB-5279-459D-A008-B30E0F472E6E}"/>
              </a:ext>
            </a:extLst>
          </p:cNvPr>
          <p:cNvSpPr>
            <a:spLocks xmlns:a="http://schemas.openxmlformats.org/drawingml/2006/main" noGrp="1"/>
          </p:cNvSpPr>
          <p:nvPr/>
        </p:nvSpPr>
        <p:spPr>
          <a:xfrm xmlns:a="http://schemas.openxmlformats.org/drawingml/2006/main">
            <a:off x="571500" y="76200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F5F3EB"/>
                </a:solidFill>
                <a:latin typeface="Liberation Serif"/>
                <a:ea typeface="Liberation Serif"/>
                <a:cs typeface="Liberation Serif"/>
              </a:defRPr>
            </a:pPr>
            <a:r>
              <a:rPr sz="3750" b="0">
                <a:solidFill>
                  <a:srgbClr val="F5F3EB"/>
                </a:solidFill>
                <a:latin typeface="Liberation Serif"/>
                <a:ea typeface="Liberation Serif"/>
                <a:cs typeface="Liberation Serif"/>
              </a:rPr>
              <a:t>A small rehearsal before a live pilot</a:t>
            </a:r>
          </a:p>
        </p:txBody>
      </p:sp>
      <p:sp>
        <p:nvSpPr>
          <p:cNvPr id="3" name="">
            <a:extLst xmlns:a="http://schemas.openxmlformats.org/drawingml/2006/main">
              <a:ext uri="{FF2B5EF4-FFF2-40B4-BE49-F238E27FC236}">
                <a16:creationId xmlns:a16="http://schemas.microsoft.com/office/drawing/2014/main" id="{E5DD6BAA-EC7F-4083-9C41-E7F1E9EA0E01}"/>
              </a:ext>
            </a:extLst>
          </p:cNvPr>
          <p:cNvSpPr>
            <a:spLocks xmlns:a="http://schemas.openxmlformats.org/drawingml/2006/main" noGrp="1"/>
          </p:cNvSpPr>
          <p:nvPr/>
        </p:nvSpPr>
        <p:spPr>
          <a:xfrm xmlns:a="http://schemas.openxmlformats.org/drawingml/2006/main">
            <a:off x="5715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5DCC2"/>
                </a:solidFill>
                <a:latin typeface="Liberation Sans"/>
                <a:ea typeface="Liberation Sans"/>
                <a:cs typeface="Liberation Sans"/>
              </a:defRPr>
            </a:pPr>
            <a:r>
              <a:rPr sz="1050" b="0">
                <a:solidFill>
                  <a:srgbClr val="D5DCC2"/>
                </a:solidFill>
                <a:latin typeface="Liberation Sans"/>
                <a:ea typeface="Liberation Sans"/>
                <a:cs typeface="Liberation Sans"/>
              </a:rPr>
              <a:t>For Lena and Carla  •  Local prototype</a:t>
            </a:r>
          </a:p>
        </p:txBody>
      </p:sp>
      <p:sp>
        <p:nvSpPr>
          <p:cNvPr id="4" name="">
            <a:extLst xmlns:a="http://schemas.openxmlformats.org/drawingml/2006/main">
              <a:ext uri="{FF2B5EF4-FFF2-40B4-BE49-F238E27FC236}">
                <a16:creationId xmlns:a16="http://schemas.microsoft.com/office/drawing/2014/main" id="{7ACD7CF8-48F1-4F47-A5F2-18C21979ACEF}"/>
              </a:ext>
            </a:extLst>
          </p:cNvPr>
          <p:cNvSpPr>
            <a:spLocks xmlns:a="http://schemas.openxmlformats.org/drawingml/2006/main" noGrp="1"/>
          </p:cNvSpPr>
          <p:nvPr/>
        </p:nvSpPr>
        <p:spPr>
          <a:xfrm xmlns:a="http://schemas.openxmlformats.org/drawingml/2006/main">
            <a:off x="10953750" y="64198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5DCC2"/>
                </a:solidFill>
                <a:latin typeface="Liberation Sans"/>
                <a:ea typeface="Liberation Sans"/>
                <a:cs typeface="Liberation Sans"/>
              </a:defRPr>
            </a:pPr>
            <a:r>
              <a:rPr sz="1050" b="0">
                <a:solidFill>
                  <a:srgbClr val="D5DCC2"/>
                </a:solidFill>
                <a:latin typeface="Liberation Sans"/>
                <a:ea typeface="Liberation Sans"/>
                <a:cs typeface="Liberation Sans"/>
              </a:rPr>
              <a:t>5 / 5</a:t>
            </a:r>
          </a:p>
        </p:txBody>
      </p:sp>
      <p:sp>
        <p:nvSpPr>
          <p:cNvPr id="5" name="">
            <a:extLst xmlns:a="http://schemas.openxmlformats.org/drawingml/2006/main">
              <a:ext uri="{FF2B5EF4-FFF2-40B4-BE49-F238E27FC236}">
                <a16:creationId xmlns:a16="http://schemas.microsoft.com/office/drawing/2014/main" id="{60861537-6BA4-4A79-BA6F-299758B6ADAB}"/>
              </a:ext>
            </a:extLst>
          </p:cNvPr>
          <p:cNvSpPr>
            <a:spLocks xmlns:a="http://schemas.openxmlformats.org/drawingml/2006/main" noGrp="1"/>
          </p:cNvSpPr>
          <p:nvPr/>
        </p:nvSpPr>
        <p:spPr>
          <a:xfrm xmlns:a="http://schemas.openxmlformats.org/drawingml/2006/main">
            <a:off x="571500" y="1838325"/>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5DCC2"/>
                </a:solidFill>
                <a:latin typeface="Liberation Sans"/>
                <a:ea typeface="Liberation Sans"/>
                <a:cs typeface="Liberation Sans"/>
              </a:defRPr>
            </a:pPr>
            <a:r>
              <a:rPr sz="2025" b="0">
                <a:solidFill>
                  <a:srgbClr val="D5DCC2"/>
                </a:solidFill>
                <a:latin typeface="Liberation Sans"/>
                <a:ea typeface="Liberation Sans"/>
                <a:cs typeface="Liberation Sans"/>
              </a:rPr>
              <a:t>Proposed next step</a:t>
            </a:r>
          </a:p>
        </p:txBody>
      </p:sp>
      <p:sp>
        <p:nvSpPr>
          <p:cNvPr id="6" name="">
            <a:extLst xmlns:a="http://schemas.openxmlformats.org/drawingml/2006/main">
              <a:ext uri="{FF2B5EF4-FFF2-40B4-BE49-F238E27FC236}">
                <a16:creationId xmlns:a16="http://schemas.microsoft.com/office/drawing/2014/main" id="{EDF9C479-5281-4B20-A1E7-CF9570B54D83}"/>
              </a:ext>
            </a:extLst>
          </p:cNvPr>
          <p:cNvSpPr>
            <a:spLocks xmlns:a="http://schemas.openxmlformats.org/drawingml/2006/main" noGrp="1"/>
          </p:cNvSpPr>
          <p:nvPr/>
        </p:nvSpPr>
        <p:spPr>
          <a:xfrm xmlns:a="http://schemas.openxmlformats.org/drawingml/2006/main">
            <a:off x="571500" y="239077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5F3EB"/>
                </a:solidFill>
                <a:latin typeface="Liberation Serif"/>
                <a:ea typeface="Liberation Serif"/>
                <a:cs typeface="Liberation Serif"/>
              </a:defRPr>
            </a:pPr>
            <a:r>
              <a:rPr sz="2925" b="0">
                <a:solidFill>
                  <a:srgbClr val="F5F3EB"/>
                </a:solidFill>
                <a:latin typeface="Liberation Serif"/>
                <a:ea typeface="Liberation Serif"/>
                <a:cs typeface="Liberation Serif"/>
              </a:rPr>
              <a:t>Lena and Carla try five sample openings together.</a:t>
            </a:r>
          </a:p>
        </p:txBody>
      </p:sp>
      <p:sp>
        <p:nvSpPr>
          <p:cNvPr id="7" name="">
            <a:extLst xmlns:a="http://schemas.openxmlformats.org/drawingml/2006/main">
              <a:ext uri="{FF2B5EF4-FFF2-40B4-BE49-F238E27FC236}">
                <a16:creationId xmlns:a16="http://schemas.microsoft.com/office/drawing/2014/main" id="{2705F8CA-6452-4224-9721-26B26C401C47}"/>
              </a:ext>
            </a:extLst>
          </p:cNvPr>
          <p:cNvSpPr>
            <a:spLocks xmlns:a="http://schemas.openxmlformats.org/drawingml/2006/main" noGrp="1"/>
          </p:cNvSpPr>
          <p:nvPr/>
        </p:nvSpPr>
        <p:spPr>
          <a:xfrm xmlns:a="http://schemas.openxmlformats.org/drawingml/2006/main">
            <a:off x="571500" y="3467100"/>
            <a:ext cx="5095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5F3EB"/>
                </a:solidFill>
                <a:latin typeface="Liberation Sans"/>
                <a:ea typeface="Liberation Sans"/>
                <a:cs typeface="Liberation Sans"/>
              </a:defRPr>
            </a:pPr>
            <a:r>
              <a:rPr sz="2100" b="1">
                <a:solidFill>
                  <a:srgbClr val="F5F3EB"/>
                </a:solidFill>
                <a:latin typeface="Liberation Sans"/>
                <a:ea typeface="Liberation Sans"/>
                <a:cs typeface="Liberation Sans"/>
              </a:rPr>
              <a:t>Rehearse the moments that matter</a:t>
            </a:r>
          </a:p>
        </p:txBody>
      </p:sp>
      <p:sp>
        <p:nvSpPr>
          <p:cNvPr id="8" name="">
            <a:extLst xmlns:a="http://schemas.openxmlformats.org/drawingml/2006/main">
              <a:ext uri="{FF2B5EF4-FFF2-40B4-BE49-F238E27FC236}">
                <a16:creationId xmlns:a16="http://schemas.microsoft.com/office/drawing/2014/main" id="{D6B98F50-CE8B-42B9-A6A2-FC347B3686A4}"/>
              </a:ext>
            </a:extLst>
          </p:cNvPr>
          <p:cNvSpPr>
            <a:spLocks xmlns:a="http://schemas.openxmlformats.org/drawingml/2006/main" noGrp="1"/>
          </p:cNvSpPr>
          <p:nvPr/>
        </p:nvSpPr>
        <p:spPr>
          <a:xfrm xmlns:a="http://schemas.openxmlformats.org/drawingml/2006/main">
            <a:off x="571500" y="4057650"/>
            <a:ext cx="5095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A timeout followed by acceptance.</a:t>
            </a:r>
          </a:p>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A failed message and phone handoff.</a:t>
            </a:r>
          </a:p>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An overlapping offer and a late reply.</a:t>
            </a:r>
          </a:p>
        </p:txBody>
      </p:sp>
      <p:sp>
        <p:nvSpPr>
          <p:cNvPr id="9" name="">
            <a:extLst xmlns:a="http://schemas.openxmlformats.org/drawingml/2006/main">
              <a:ext uri="{FF2B5EF4-FFF2-40B4-BE49-F238E27FC236}">
                <a16:creationId xmlns:a16="http://schemas.microsoft.com/office/drawing/2014/main" id="{D3241899-09A7-465B-8900-BBD9774E145E}"/>
              </a:ext>
            </a:extLst>
          </p:cNvPr>
          <p:cNvSpPr>
            <a:spLocks xmlns:a="http://schemas.openxmlformats.org/drawingml/2006/main" noGrp="1"/>
          </p:cNvSpPr>
          <p:nvPr/>
        </p:nvSpPr>
        <p:spPr>
          <a:xfrm xmlns:a="http://schemas.openxmlformats.org/drawingml/2006/main">
            <a:off x="6515100" y="3467100"/>
            <a:ext cx="5105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5F3EB"/>
                </a:solidFill>
                <a:latin typeface="Liberation Sans"/>
                <a:ea typeface="Liberation Sans"/>
                <a:cs typeface="Liberation Sans"/>
              </a:defRPr>
            </a:pPr>
            <a:r>
              <a:rPr sz="2100" b="1">
                <a:solidFill>
                  <a:srgbClr val="F5F3EB"/>
                </a:solidFill>
                <a:latin typeface="Liberation Sans"/>
                <a:ea typeface="Liberation Sans"/>
                <a:cs typeface="Liberation Sans"/>
              </a:rPr>
              <a:t>Agree on the pilot’s success checks</a:t>
            </a:r>
          </a:p>
        </p:txBody>
      </p:sp>
      <p:sp>
        <p:nvSpPr>
          <p:cNvPr id="10" name="">
            <a:extLst xmlns:a="http://schemas.openxmlformats.org/drawingml/2006/main">
              <a:ext uri="{FF2B5EF4-FFF2-40B4-BE49-F238E27FC236}">
                <a16:creationId xmlns:a16="http://schemas.microsoft.com/office/drawing/2014/main" id="{91E824D4-EF95-4D31-B100-6887B7F62E9E}"/>
              </a:ext>
            </a:extLst>
          </p:cNvPr>
          <p:cNvSpPr>
            <a:spLocks xmlns:a="http://schemas.openxmlformats.org/drawingml/2006/main" noGrp="1"/>
          </p:cNvSpPr>
          <p:nvPr/>
        </p:nvSpPr>
        <p:spPr>
          <a:xfrm xmlns:a="http://schemas.openxmlformats.org/drawingml/2006/main">
            <a:off x="6515100" y="4057650"/>
            <a:ext cx="51054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Fewer staff checks and texts.</a:t>
            </a:r>
          </a:p>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More eligible openings filled.</a:t>
            </a:r>
          </a:p>
          <a:p xmlns:a="http://schemas.openxmlformats.org/drawingml/2006/main">
            <a:pPr>
              <a:defRPr sz="2025" b="0">
                <a:solidFill>
                  <a:srgbClr val="F5F3EB"/>
                </a:solidFill>
                <a:latin typeface="Liberation Sans"/>
                <a:ea typeface="Liberation Sans"/>
                <a:cs typeface="Liberation Sans"/>
              </a:defRPr>
            </a:pPr>
            <a:r>
              <a:rPr sz="2025" b="0">
                <a:solidFill>
                  <a:srgbClr val="F5F3EB"/>
                </a:solidFill>
                <a:latin typeface="Liberation Sans"/>
                <a:ea typeface="Liberation Sans"/>
                <a:cs typeface="Liberation Sans"/>
              </a:rPr>
              <a:t>No conflicting bookings or unclear turns.</a:t>
            </a:r>
          </a:p>
        </p:txBody>
      </p:sp>
      <p:sp>
        <p:nvSpPr>
          <p:cNvPr id="11" name="">
            <a:extLst xmlns:a="http://schemas.openxmlformats.org/drawingml/2006/main">
              <a:ext uri="{FF2B5EF4-FFF2-40B4-BE49-F238E27FC236}">
                <a16:creationId xmlns:a16="http://schemas.microsoft.com/office/drawing/2014/main" id="{633EDE57-B199-4694-B122-B36916C5A2E2}"/>
              </a:ext>
            </a:extLst>
          </p:cNvPr>
          <p:cNvSpPr>
            <a:spLocks xmlns:a="http://schemas.openxmlformats.org/drawingml/2006/main" noGrp="1"/>
          </p:cNvSpPr>
          <p:nvPr/>
        </p:nvSpPr>
        <p:spPr>
          <a:xfrm xmlns:a="http://schemas.openxmlformats.org/drawingml/2006/main">
            <a:off x="571500" y="562927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5DCC2"/>
                </a:solidFill>
                <a:latin typeface="Liberation Sans"/>
                <a:ea typeface="Liberation Sans"/>
                <a:cs typeface="Liberation Sans"/>
              </a:defRPr>
            </a:pPr>
            <a:r>
              <a:rPr sz="1725" b="0">
                <a:solidFill>
                  <a:srgbClr val="D5DCC2"/>
                </a:solidFill>
                <a:latin typeface="Liberation Sans"/>
                <a:ea typeface="Liberation Sans"/>
                <a:cs typeface="Liberation Sans"/>
              </a:rPr>
              <a:t>After the rehearsal, review the results before adding real SMS and secure access for a supervised pilot. Square changes remain staff work.</a:t>
            </a:r>
          </a:p>
        </p:txBody>
      </p:sp>
    </p:spTree>
    <p:extLst>
      <p:ext uri="{BB962C8B-B14F-4D97-AF65-F5344CB8AC3E}">
        <p14:creationId xmlns:p14="http://schemas.microsoft.com/office/powerpoint/2010/main" val="1431034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2026-10-07T05:23:07.6880000Z</dcterms:created>
  <dcterms:modified xsi:type="dcterms:W3CDTF">2026-10-07T05:23:07.6880000Z</dcterms:modified>
</coreProperties>
</file>